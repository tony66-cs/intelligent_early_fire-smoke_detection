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5720" cy="50886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Comparison of Object Detection Architectures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YOLO V1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30175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YOLO V8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30175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YOLO V26M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30175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YOLO V26N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Internal Architecture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Key Improvements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Strengths &amp; Weaknesses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Best Use Cases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Prepared for Discussion ·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Evolution Timeline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From YOLO v1 (2015) to YOLO v26 (2025)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772400" cy="457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574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55448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1554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YOLO v1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The original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one-stage detector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0574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2016–21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743200"/>
            <a:ext cx="155448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743200"/>
            <a:ext cx="1554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v2–v5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01752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Anchor boxes,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darknet backbone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05740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2743200"/>
            <a:ext cx="155448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2743200"/>
            <a:ext cx="15544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YOLO v8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301752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Ultralytics revamp,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anchor-free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05740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2025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2743200"/>
            <a:ext cx="155448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2743200"/>
            <a:ext cx="1554480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YOLO v26m/n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01752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Efficient NAS-based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models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159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💡  Key Paradigm Shifts: Grid-based detection → Anchor boxes → Anchor-free → NAS-optimized backbones | Single model → Multi-size model families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7665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2015 · Joseph Redmon et al. · The Original Real-Time Object Detector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207008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24 Convolutional layers + 2 Fully Connected layers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Input: 448×448 pixel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Divides image into S×S grid (7×7 by default)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Each cell predicts B bounding boxes (B=2) + confidence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Each cell also predicts C class probabilities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Output tensor: 7×7×30 (2 boxes × 5 vals + 20 classes)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Backbone inspired by GoogLeNet / Inception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Single forward pass → direct regression to boxes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216152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Extremely fast — 45 FPS on GPU (real-time!)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Simple unified architecture — end-to-end training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Globally reasons about image — fewer background errors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Generalizes well to new domains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514600"/>
            <a:ext cx="4206240" cy="2926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WEAKNESSES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852928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Struggles with small objects (coarse 7×7 grid)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Only 2 boxes per cell — misses clustered 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High localization errors vs. two-stage detectors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Fixed aspect ratio — poor with unusual shapes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mAP significantly lower than R-CNN family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4160520"/>
            <a:ext cx="877824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🎯  BEST USE: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422452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Historical reference / education. Pioneering research where raw speed matters and accuracy requirements are low. Real-time detection on constrained hardware with large, well-separated objects.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7665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2023 · Ultralytics · Anchor-Free, Multi-Task, State-of-the-Art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207008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CSPDarknet53 backbone (Cross-Stage Partial)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C2f module (replaces C3 from v5) — better gradient 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Anchor-FREE detection head — predicts box center directly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FPN + PAN neck for multi-scale feature fusion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Decoupled head: separate cls &amp; reg branches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DFL loss (Distribution Focal Loss) for precise box reg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5 model sizes: n / s / m / l / x (nano to extra-large)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Multi-task: Detect / Segment / Pose / Classify / OBB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216152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Best accuracy in its generation (COCO ~53% mAP for v8x)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Versatile — detect, segment, pose, classify in one framework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Excellent Python API + CLI + Ultralytics Hub ecosystem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Strong community &amp; production deployment support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Better small-object detection than v1–v5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206240" cy="2926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97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WEAKNESSES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03580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Heavier than v26n/m — not ideal for edge devices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v8x requires significant GPU 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Superseded by newer YOLO versions in raw benchmarks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No official transformer backbone variant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4160520"/>
            <a:ext cx="877824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🎯  BEST USE: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422452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Production computer vision pipelines requiring multi-task support. Surveillance, robotics, autonomous vehicles, medical imaging, industrial QA. Best when you need a proven, well-supported framework.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7665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v26m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0" y="914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2025 · Medium variant · Balanced Performance &amp; Efficiency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207008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NAS-optimized backbone (Neural Architecture Search)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Efficient reparameterizable convolution blocks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Anchor-free detection head (inherited from v8+)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Improved neck: lightweight BiFPN-style feature pyramid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Depthwise separable convolutions for efficiency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Medium size: ~20M parameters (vs v8m ~25M)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COCO mAP ~51–52% at higher FPS than v8m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Supports ONNX / TensorRT / OpenVINO export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216152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Best accuracy/speed trade-off in v26 family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Outperforms v8m on COCO with fewer FLOPs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NAS-designed: architecture tuned by search, not hand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Good for mid-range GPU and server deployment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Strong multi-scale detection capability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206240" cy="2926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97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WEAKNESSES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03580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Smaller ecosystem than v8 (fewer tutorials/tools)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Still heavier than v26n for edge deployment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Newer — less battle-tested in production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NAS architecture harder to manually customize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4160520"/>
            <a:ext cx="877824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🎯  BEST USE: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422452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Balanced server-side deployment where v26n accuracy falls short but v8x is too heavy. Smart cameras, drone detection, retail analytics — needs solid mAP without a massive GPU.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7665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v26n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0" y="914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2025 · Nano variant · Ultra-Lightweight Edge Deployment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207008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Ultra-compact NAS-optimized backbone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~2–3M parameters (vs v8n ~3M, much faster)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Aggressive pruning + channel reduction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Lightweight C2f-style blocks with less depth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Anchor-free head — same paradigm as v26m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Optimized for INT8 quantization on edge chips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Runs on Raspberry Pi, Jetson Nano, mobile NPUs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~200+ FPS on GPU, ~30+ FPS on CPU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216152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Fastest in v26 family — extreme throughput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Tiny memory footprint — fits on-device easily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Best choice for IoT, mobile, and embedded 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Outperforms v8n in speed/accuracy on same hardware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Excellent for TFLite / CoreML / ONNX Runtime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206240" cy="2926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97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WEAKNESSES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03580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Lower mAP than v26m (~46–48% vs ~52%)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Struggles with very small or dense 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Less expressive backbone limits complex scene understanding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Not suited for precision-critical applications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4160520"/>
            <a:ext cx="877824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🎯  BEST USE: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422452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Edge AI, IoT devices, smartphones, wearables, drones with battery constraints. Real-time person/vehicle detection where model size &lt; 5MB matters more than achieving maximum accuracy.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Head-to-Head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Key metrics and architecture properties across all four versions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8288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Property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914400"/>
            <a:ext cx="1737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914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 v1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914400"/>
            <a:ext cx="17373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914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 v8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1737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914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 v26m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914400"/>
            <a:ext cx="173736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914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 v26n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261872"/>
            <a:ext cx="18288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261872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Year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0" y="1261872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26187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2015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1261872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26187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2023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261872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26187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2025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23760" y="1261872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26187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2025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1682496"/>
            <a:ext cx="182880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1682496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Detection Head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0" y="1682496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168249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Anchor-based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(grid)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49040" y="1682496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168249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Anchor-FREE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0" y="1682496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68249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Anchor-FREE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23760" y="1682496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168249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Anchor-FREE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2103120"/>
            <a:ext cx="18288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103120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Backbone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2103120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210312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24 Conv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(GoogLeNet)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49040" y="2103120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10312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CSPDarknet53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C2f blocks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0" y="2103120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210312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NAS-optimized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CSP-style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23760" y="2103120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210312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NAS-compact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ultra-light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82880" y="2523744"/>
            <a:ext cx="182880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2523744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Parameters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11680" y="2523744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2523744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~67M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49040" y="2523744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2523744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~25M (m)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0" y="2523744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2523744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~20M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23760" y="2523744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2523744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~2–3M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2880" y="2944368"/>
            <a:ext cx="18288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2944368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COCO mAP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11680" y="2944368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0" y="2944368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~63.4%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(VOC, diff metric)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749040" y="2944368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0" y="2944368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~53% (v8x)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~50% (v8m)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86400" y="2944368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2944368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~51–52%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23760" y="2944368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0" y="2944368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~46–48%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82880" y="3364992"/>
            <a:ext cx="182880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3364992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Speed (GPU)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011680" y="3364992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11680" y="336499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~45 FPS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749040" y="3364992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336499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~60–100 FPS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86400" y="3364992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0" y="336499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~120+ FPS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223760" y="3364992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3760" y="3364992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~200+ FPS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82880" y="3785616"/>
            <a:ext cx="18288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3785616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Multi-task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011680" y="3785616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11680" y="378561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Detection only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749040" y="3785616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49040" y="378561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Detect/Seg/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Pose/Cls/OBB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486400" y="3785616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0" y="378561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Detect + Seg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223760" y="3785616"/>
            <a:ext cx="173736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23760" y="3785616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Detect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206240"/>
            <a:ext cx="182880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" y="4206240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Edge-ready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011680" y="4206240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11680" y="420624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❌ No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749040" y="4206240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49040" y="420624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⚠️ Large models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486400" y="4206240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86400" y="420624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⚠️ Medium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223760" y="4206240"/>
            <a:ext cx="17373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23760" y="4206240"/>
            <a:ext cx="17373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FAFB"/>
                </a:solidFill>
              </a:rPr>
              <a:t>✅ Yes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Improvements Between Versions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What changed and why it mattered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29260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  →  v8:  The Architecture Revolution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207008"/>
            <a:ext cx="8778240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52728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Anchor-free: No pre-defined box priors — learns to predict directly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C2f blocks replace raw Conv layers — much better gradient 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Decoupled head: Classification and regression separated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FPN+PAN neck: Detects small AND large objects simultaneously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Multi-task: Single model handles detect, segment, pose, classify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DFL Loss: Distribution Focal Loss for far more precise box regression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2990088"/>
            <a:ext cx="8778240" cy="29260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900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v8  →  v26m/n:  The Efficiency Revolution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3282696"/>
            <a:ext cx="8778240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28416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NAS backbone: Architecture searched automatically — not hand-designed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Depthwise separable convolutions drastically cut FLOPs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Reparameterizable blocks: Complex training, simple inference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v26n achieves near-v8n accuracy at fraction of compute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Better quantization support: INT8 optimized for NPUs/TPUs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 v26m beats v8m mAP with fewer parameters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5111496"/>
            <a:ext cx="8778240" cy="658368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5138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💡  v26m vs v26n:  Same NAS philosophy, different depth. v26n scales DOWN aggressively — fewer channels, shallower backbone, optimized for edge inference. v26m retains more capacity for better scene understanding.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YOLO Should You Use?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Decision guide by use case and priority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4297680" cy="347472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78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🏭  Production Server / Cloud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24128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241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YOLO v8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3441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Complex pipelines, segmentation, pose estimation, or multi-task needs. Best ecosystem, proven in industry.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404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82F6"/>
                </a:solidFill>
              </a:rPr>
              <a:t>Surveillance • Autonomous vehicles • Medical imaging • Industrial QA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9768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4297680" cy="347472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78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Edge / Mobile / IoT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1024128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0241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YOLO v26n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3441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Battery-powered, CPU-only, or embedded NPU. Needs smallest footprint with acceptable accuracy.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404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</a:rPr>
              <a:t>Raspberry Pi • Jetson Nano • Smartphones • Drones • Wearables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3017520"/>
            <a:ext cx="429768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017520"/>
            <a:ext cx="429768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35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⚖️  Balanced Accuracy + Speed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081528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0815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YOLO v26m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4015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Mid-range GPU deployment where v26n is too weak but v8 is overkill. Best FLOPs-per-mAP ratio.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462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</a:rPr>
              <a:t>Smart cameras • Retail analytics • Traffic monitoring • Robotics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29768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17520"/>
            <a:ext cx="429768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35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Learning / Research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3081528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0815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YOLO v1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4015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Understanding the foundations of real-time detection. Simple, elegant, teachable architecture.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462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Education • Papers • Baseline experiments • Architecture comparisons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4800600"/>
            <a:ext cx="8778240" cy="137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0974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Rule of thumb: Start with v8 if unsure. Downgrade to v26n for edge. Upgrade backbone if accuracy is still insufficient.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78240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54864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YOLO v1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"The Pioneer"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86868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</a:rPr>
              <a:t>Proved real-time detection was possible. Simple grid + FC layers. Fast but coarse — foundational for all that followed.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783080"/>
            <a:ext cx="8778240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783080"/>
            <a:ext cx="54864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YOLO v8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"The Swiss Army Knife"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87452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</a:rPr>
              <a:t>Best ecosystem, multi-task, anchor-free. Go-to for production systems that need reliability, flexibility, and community support.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788920"/>
            <a:ext cx="8778240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788920"/>
            <a:ext cx="54864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YOLO v26m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"The Efficient All-Rounder"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88036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</a:rPr>
              <a:t>NAS-optimized for best mAP per FLOP. Outperforms v8m with similar or fewer parameters. Ideal mid-tier choice.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794760"/>
            <a:ext cx="8778240" cy="896112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794760"/>
            <a:ext cx="54864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YOLO v26n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"The Edge Champion"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886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</a:rPr>
              <a:t>Tiny, fast, quantization-ready. Wins on embedded and mobile hardware. Accept lower mAP for extreme deployment constraints.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</a:rPr>
              <a:t>YOLO — You Only Look Once, but choose wisely.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v1 — Internal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Input: 448×448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384048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49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BACKBONE  ·  24 Convolutional Layers  +  4 MaxPool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069080" y="749808"/>
            <a:ext cx="3383280" cy="201168"/>
          </a:xfrm>
          <a:prstGeom prst="rect">
            <a:avLst/>
          </a:prstGeom>
          <a:solidFill>
            <a:srgbClr val="9CA3AF">
              <a:alpha val="20000"/>
            </a:srgbClr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7498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CA3AF"/>
                </a:solidFill>
              </a:rPr>
              <a:t>NECK / FLATTEN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543800" y="749808"/>
            <a:ext cx="141732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749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HEAD  ·  FC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" y="1005840"/>
            <a:ext cx="640080" cy="1051560"/>
          </a:xfrm>
          <a:prstGeom prst="rect">
            <a:avLst/>
          </a:prstGeom>
          <a:solidFill>
            <a:srgbClr val="78350F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" y="1005840"/>
            <a:ext cx="64008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7×7×64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stride 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528" y="1504188"/>
            <a:ext cx="13716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41832" y="1005840"/>
            <a:ext cx="502920" cy="1051560"/>
          </a:xfrm>
          <a:prstGeom prst="rect">
            <a:avLst/>
          </a:prstGeom>
          <a:solidFill>
            <a:srgbClr val="92400E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2×2 s2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63040" y="1504188"/>
            <a:ext cx="13716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72184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18488" y="1005840"/>
            <a:ext cx="640080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18488" y="1005840"/>
            <a:ext cx="64008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3×3×192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76856" y="1504188"/>
            <a:ext cx="13716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23160" y="1005840"/>
            <a:ext cx="502920" cy="1051560"/>
          </a:xfrm>
          <a:prstGeom prst="rect">
            <a:avLst/>
          </a:prstGeom>
          <a:solidFill>
            <a:srgbClr val="92400E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2316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2×2 s2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44368" y="1504188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72384" y="1005840"/>
            <a:ext cx="868680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72384" y="1005840"/>
            <a:ext cx="86868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 ×4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1×1×128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3×3×256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1×1×256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3×3×512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59352" y="1504188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1064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87368" y="1005840"/>
            <a:ext cx="594360" cy="1051560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087368" y="1005840"/>
            <a:ext cx="59436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2×2 s2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0016" y="1504188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28032" y="1005840"/>
            <a:ext cx="82296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28032" y="1005840"/>
            <a:ext cx="82296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 ×6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1×1×512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3×3×1024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×2 pairs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+extra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0" y="1504188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7296" y="1005840"/>
            <a:ext cx="502920" cy="1051560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797296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2×2 s2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18504" y="1504188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46520" y="1005840"/>
            <a:ext cx="731520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46520" y="1005840"/>
            <a:ext cx="73152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 ×2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3×3×1024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3×3×1024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stride 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96328" y="1504188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24344" y="1005840"/>
            <a:ext cx="685800" cy="1051560"/>
          </a:xfrm>
          <a:prstGeom prst="rect">
            <a:avLst/>
          </a:prstGeom>
          <a:solidFill>
            <a:srgbClr val="7F1D1D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24344" y="1005840"/>
            <a:ext cx="68580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4096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LeakyReLU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28432" y="1504188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10144" y="14401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156448" y="1005840"/>
            <a:ext cx="640080" cy="105156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156448" y="1005840"/>
            <a:ext cx="64008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7×7×30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37160" y="2212848"/>
            <a:ext cx="886968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222199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Output Tensor: 7×7×30  =  S×S grid × (B×5 + C)  where S=7, B=2 boxes/cell, C=20 classes  →  2×(x,y,w,h,conf) + 20 class probs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37160" y="2578608"/>
            <a:ext cx="2121408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" y="2578608"/>
            <a:ext cx="2121408" cy="27432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2578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Processing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10312" y="2871216"/>
            <a:ext cx="1993392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448×448×3 RGB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to [0,1]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data augmentation in v1 original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377440" y="2578608"/>
            <a:ext cx="2121408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2578608"/>
            <a:ext cx="21214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77440" y="2578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Backbone Layers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450592" y="2871216"/>
            <a:ext cx="1993392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conv layers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Inspired by GoogLeNet/Inception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Leaky ReLU (α=0.1) activations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Norm NOT used (added in v2)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2578608"/>
            <a:ext cx="2121408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17720" y="2578608"/>
            <a:ext cx="2121408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2578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Detection Head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690872" y="2871216"/>
            <a:ext cx="1993392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Fully Connected (FC)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FC1: 4096 neurons, Leaky ReLU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FC2: 1470 → reshape to 7×7×30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Dropout (p=0.5) after FC1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858000" y="2578608"/>
            <a:ext cx="2121408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2578608"/>
            <a:ext cx="2121408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0" y="2578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Loss Function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931152" y="2871216"/>
            <a:ext cx="1993392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Sum-Squared Error (SSE) loss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λ_coord=5 (box weight)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λ_noobj=0.5 (no-obj weight)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Responsible predictor only updates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v8 — Internal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Input: 640×640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3291840" cy="20116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49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BACKBONE  ·  CSPDarknet53  +  C2f Blocks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20440" y="749808"/>
            <a:ext cx="292608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749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NECK  ·  FPN  +  PAN  (Multi-Scale Fusion)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537960" y="749808"/>
            <a:ext cx="246888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749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HEAD  ·  Decoupled  Anchor-Free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" y="1005840"/>
            <a:ext cx="6400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" y="1005840"/>
            <a:ext cx="64008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640→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320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3×3,s2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52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" y="1005840"/>
            <a:ext cx="6858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" y="1005840"/>
            <a:ext cx="68580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320→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160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3×3,s2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09344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19072" y="1005840"/>
            <a:ext cx="7498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19072" y="1005840"/>
            <a:ext cx="749808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C2f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×3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(CSP)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8716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96896" y="1005840"/>
            <a:ext cx="6858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96896" y="1005840"/>
            <a:ext cx="68580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160→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00984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7160" y="2039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P3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80×80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600200" y="2039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P4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40×40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63240" y="2039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P5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20×20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538728" y="1005840"/>
            <a:ext cx="822960" cy="96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38728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SPPF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5×5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Pooling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(fast)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79976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89704" y="1005840"/>
            <a:ext cx="777240" cy="960120"/>
          </a:xfrm>
          <a:prstGeom prst="rect">
            <a:avLst/>
          </a:prstGeom>
          <a:solidFill>
            <a:srgbClr val="047857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89704" y="1005840"/>
            <a:ext cx="7772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FPN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Up-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sample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+C2f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85232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48656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94960" y="1005840"/>
            <a:ext cx="7772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94960" y="1005840"/>
            <a:ext cx="7772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Down-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sample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+C2f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9048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00216" y="1005840"/>
            <a:ext cx="82296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00216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Decoupled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Cls Branch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(sigmoid)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41464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04888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51192" y="1005840"/>
            <a:ext cx="822960" cy="96012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51192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Decoupled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 Branch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DFL Loss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092440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55864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02168" y="1005840"/>
            <a:ext cx="804672" cy="960120"/>
          </a:xfrm>
          <a:prstGeom prst="rect">
            <a:avLst/>
          </a:prstGeom>
          <a:solidFill>
            <a:srgbClr val="450A0A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202168" y="1005840"/>
            <a:ext cx="804672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Boxes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2084832"/>
            <a:ext cx="886968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209397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3 detection scales: P3 (80×80 small), P4 (40×40 medium), P5 (20×20 large) · Anchor-FREE · DFL (Distribution Focal Loss) for box regression · Decoupled cls+reg heads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3716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7160" y="2450592"/>
            <a:ext cx="2121408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716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CSPDarknet53 Backbone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0116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Cross-Stage Partial Network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Splits feature map: partial goes direct to next stage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C2f block = CSP + 2 bottlenecks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gradient bottleneck vs v5's C3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SPPF: fast Spatial Pyramid Pooling (5×5 kernel ×3)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37744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2450592"/>
            <a:ext cx="2121408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744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Neck: FPN + PAN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44144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FPN: top-down, large→small feature enrichment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PAN: bottom-up path for fine-grained localization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paths use C2f blocks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Fuses P3+P4+P5 for multi-scale detection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1772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17720" y="2450592"/>
            <a:ext cx="212140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Decoupled Head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68172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cls &amp; reg branches (unlike v5 coupled head)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Anchor-FREE: predicts distance from center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DFL Loss: models box edges as distributions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Cross-Entropy for classification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Task-Aligned Assigner for label assignment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85800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2450592"/>
            <a:ext cx="2121408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 Sizes (v8)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92200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v8n: 3.2M params · 8.7 GFLOPs · ~37% 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v8s: 11.2M · 28.6 GFLOPs · ~44% 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v8m: 25.9M · 78.9 GFLOPs · ~50% 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v8l: 43.7M · 165.2 GFLOPs · ~52% 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v8x: 68.2M · 257.8 GFLOPs · ~53% mAP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v26m — Internal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Input: 640×640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374904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49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BACKBONE  ·  NAS-Optimized  CSP-Style  Stem + Stages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977640" y="749808"/>
            <a:ext cx="2743200" cy="20116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749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NECK  ·  Lightweight BiFPN-Style Fusion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12280" y="749808"/>
            <a:ext cx="219456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749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HEAD  ·  Anchor-Free  Decoupled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" y="1005840"/>
            <a:ext cx="685800" cy="960120"/>
          </a:xfrm>
          <a:prstGeom prst="rect">
            <a:avLst/>
          </a:prstGeom>
          <a:solidFill>
            <a:srgbClr val="064E3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" y="1005840"/>
            <a:ext cx="68580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→32ch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50976" y="1005840"/>
            <a:ext cx="777240" cy="96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" y="1005840"/>
            <a:ext cx="7772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Depth-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wise×3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746504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9928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56232" y="1005840"/>
            <a:ext cx="777240" cy="960120"/>
          </a:xfrm>
          <a:prstGeom prst="rect">
            <a:avLst/>
          </a:prstGeom>
          <a:solidFill>
            <a:srgbClr val="047857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56232" y="1005840"/>
            <a:ext cx="7772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×6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51760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61488" y="1005840"/>
            <a:ext cx="7772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61488" y="1005840"/>
            <a:ext cx="7772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CSP-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Block×9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57016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66744" y="1005840"/>
            <a:ext cx="201168" cy="960120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66744" y="1005840"/>
            <a:ext cx="201168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↓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95928" y="1005840"/>
            <a:ext cx="77724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95928" y="1005840"/>
            <a:ext cx="77724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SPPF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Reparam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91456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01184" y="1005840"/>
            <a:ext cx="82296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01184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BiFPN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P4+P5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C2f-lite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42432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05856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1005840"/>
            <a:ext cx="82296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52160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BiFPN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Down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P3+P4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C2f-lite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9340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1005840"/>
            <a:ext cx="82296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12280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DW Conv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Sigmoid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65352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63256" y="1005840"/>
            <a:ext cx="822960" cy="96012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63256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DFL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Loss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604504" y="1476756"/>
            <a:ext cx="73152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9640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86800" y="138988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→ Boxes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37160" y="2084832"/>
            <a:ext cx="886968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209397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NAS-designed stages: architecture found via Neural Architecture Search · Reparameterizable blocks (RepConv): multi-branch training → single-branch inference · ~20M params · 3 detection scales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" y="2450592"/>
            <a:ext cx="212140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NAS Backbone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0116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found by Neural Architecture Search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hand-designed — optimized for FLOP/mAP trade-off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Depthwise separable conv (DW+PW) as main unit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counts tuned by NAS, not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RepConv blocks: training time ≠ inference time structure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37744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2450592"/>
            <a:ext cx="2121408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7744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Reparameterizable Blocks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44144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RepConv: 3×3 + 1×1 + identity at training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inference: fused into single 3×3 conv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accuracy, lower latency after fusion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fast deployment without re-training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1772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17720" y="2450592"/>
            <a:ext cx="212140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Lightweight BiFPN Neck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68172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Bidirectional feature pyramid network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Weighted feature fusion (learns weights per scale)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C2f-lite: fewer bottleneck channels than v8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P3/P4/P5 like v8 but lighter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multi-scale fusion than simple FPN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85800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58000" y="2450592"/>
            <a:ext cx="2121408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Specs vs v8m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92200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~20M params (v8m: ~25M) → 20% lighter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Similar or better COCO mAP than v8m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FPS due to efficient depthwise convs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ONNX, TFLite, TRT export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INT8 quantization with minimal accuracy drop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v26n — Internal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Input: 416×416 (flexible)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3657600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49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BACKBONE  ·  Ultra-Compact NAS  ·  ~2–3M Params Total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86200" y="749808"/>
            <a:ext cx="2560320" cy="20116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749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NECK  ·  Minimal BiFPN / Lightweight PANet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537960" y="749808"/>
            <a:ext cx="246888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749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HEAD  ·  Shared Anchor-Free  Light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" y="1005840"/>
            <a:ext cx="640080" cy="960120"/>
          </a:xfrm>
          <a:prstGeom prst="rect">
            <a:avLst/>
          </a:prstGeom>
          <a:solidFill>
            <a:srgbClr val="2E1065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" y="1005840"/>
            <a:ext cx="64008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3×3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→16ch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52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" y="1005840"/>
            <a:ext cx="731520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" y="1005840"/>
            <a:ext cx="73152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16→32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DW×2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55064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8488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64792" y="1005840"/>
            <a:ext cx="731520" cy="960120"/>
          </a:xfrm>
          <a:prstGeom prst="rect">
            <a:avLst/>
          </a:prstGeom>
          <a:solidFill>
            <a:srgbClr val="5B21B6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64792" y="1005840"/>
            <a:ext cx="73152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32→64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DW×3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14600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78024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24328" y="1005840"/>
            <a:ext cx="731520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24328" y="1005840"/>
            <a:ext cx="73152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64→128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DW×3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74136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83864" y="1005840"/>
            <a:ext cx="292608" cy="960120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83864" y="1005840"/>
            <a:ext cx="292608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↓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04488" y="1005840"/>
            <a:ext cx="82296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04488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SPPF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(2×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pool)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45736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55464" y="1005840"/>
            <a:ext cx="82296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55464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P4+P5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 C2f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96712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0136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06440" y="1005840"/>
            <a:ext cx="61264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06440" y="1005840"/>
            <a:ext cx="612648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Down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P3+P4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37376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56248" y="1005840"/>
            <a:ext cx="804672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56248" y="1005840"/>
            <a:ext cx="804672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Shared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Cls+Reg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Light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Head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79208" y="1476756"/>
            <a:ext cx="9144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4263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88936" y="1005840"/>
            <a:ext cx="804672" cy="96012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488936" y="1005840"/>
            <a:ext cx="804672" cy="960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DFL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+BCE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11896" y="1476756"/>
            <a:ext cx="73152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57032" y="14127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▶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394192" y="139903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→ Out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37160" y="20299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</a:rPr>
              <a:t>16ch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05256" y="20299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</a:rPr>
              <a:t>32ch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764792" y="20299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</a:rPr>
              <a:t>64ch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624328" y="20299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</a:rPr>
              <a:t>128ch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37160" y="2084832"/>
            <a:ext cx="886968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209397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~2–3M total parameters · DW = Depthwise Separable Conv (reduces FLOPs by 8–9×) · Designed for INT8 inference on NPU/mobile · Runs 200+ FPS on GPU, ~30 FPS on CPU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3716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160" y="2450592"/>
            <a:ext cx="2121408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16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Ultra-Compact Backbone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0116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Tiny stem: only 16 output channels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Depthwise separable conv throughout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 found minimum viable depth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squeeze-excitation (saves params)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backbone: &lt;2M parameters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37744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450592"/>
            <a:ext cx="2121408" cy="274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Depthwise Separable Conv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44144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DW Conv: applies 1 filter per input channel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PW Conv (1×1): mixes channels after DW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DW+PW ≈ 9× fewer FLOPs than 3×3 conv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in MobileNet family — proven on mobile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real-time on CPU/embedded NPU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1772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17720" y="2450592"/>
            <a:ext cx="212140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Minimal Neck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68172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1 C2f block per fusion node (vs 2+ in v26m)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P3/P4/P5 still fused (3 scales)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SPPF-lite: 2 pooling ops instead of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Lighter upsample — bilinear not transposed conv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Still detects small/med/large objects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858000" y="2450592"/>
            <a:ext cx="2121408" cy="2505456"/>
          </a:xfrm>
          <a:prstGeom prst="rect">
            <a:avLst/>
          </a:prstGeom>
          <a:solidFill>
            <a:srgbClr val="1F293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58000" y="2450592"/>
            <a:ext cx="2121408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24505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Edge Deployment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922008" y="2743200"/>
            <a:ext cx="20116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INT8 quantization: &lt;1% mAP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 Runtime / TFLite / CoreML ready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file ~5–6 MB after quantize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Jetson Nano: ~35 FPS @ 416×416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Raspberry Pi 4: ~8–12 FPS (usable!)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 Versions Comparison</dc:title>
  <dc:subject>PptxGenJS Presentation</dc:subject>
  <dc:creator>PptxGenJS</dc:creator>
  <cp:lastModifiedBy>PptxGenJS</cp:lastModifiedBy>
  <cp:revision>1</cp:revision>
  <dcterms:created xsi:type="dcterms:W3CDTF">2026-05-16T21:41:00Z</dcterms:created>
  <dcterms:modified xsi:type="dcterms:W3CDTF">2026-05-16T21:41:00Z</dcterms:modified>
</cp:coreProperties>
</file>